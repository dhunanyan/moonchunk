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76695" y="857707"/>
            <a:ext cx="5143500" cy="51435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20" b="-420"/>
          <a:stretch/>
        </p:blipFill>
        <p:spPr>
          <a:xfrm>
            <a:off x="761695" y="1524305"/>
            <a:ext cx="761695" cy="576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76095" y="1524305"/>
            <a:ext cx="57607" cy="57607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44207" y="1524305"/>
            <a:ext cx="3810305" cy="381030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61695" y="1857146"/>
            <a:ext cx="62865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-75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MoonChunk</a:t>
            </a:r>
            <a:endParaRPr lang="en-US" sz="540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2764231"/>
            <a:ext cx="621060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Mini język DSL do generowania statycznych stron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3861511"/>
            <a:ext cx="56007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Język domenowy kompilujący pliki </a:t>
            </a:r>
            <a:pPr algn="l" indent="0" marL="0">
              <a:buNone/>
            </a:pPr>
            <a:r>
              <a:rPr lang="en-US" sz="13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.mncnk</a:t>
            </a:r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statycznego HTML. 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61695" y="4851806"/>
            <a:ext cx="381305" cy="304495"/>
          </a:xfrm>
          <a:prstGeom prst="roundRect">
            <a:avLst>
              <a:gd name="adj" fmla="val 75075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3349" y="4851806"/>
            <a:ext cx="4389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WEJ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295705" y="4890211"/>
            <a:ext cx="12792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Pliki 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.mncnk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61695" y="5309006"/>
            <a:ext cx="381305" cy="304495"/>
          </a:xfrm>
          <a:prstGeom prst="roundRect">
            <a:avLst>
              <a:gd name="adj" fmla="val 75075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3349" y="5309006"/>
            <a:ext cx="43891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WYJ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1295705" y="5347411"/>
            <a:ext cx="27752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Gotowe pliki HTML w </a:t>
            </a:r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./dist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61695" y="5952744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61695" y="6152998"/>
            <a:ext cx="41815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8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Projekt z obszaru: kompilatory / interpretery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9125712" y="6152998"/>
            <a:ext cx="239755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8" kern="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Szkic slajdów • Tech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35239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33195"/>
            <a:ext cx="1219169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761695" y="1904695"/>
            <a:ext cx="6495898" cy="401970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4" r="-4" t="0" b="0"/>
          <a:stretch/>
        </p:blipFill>
        <p:spPr>
          <a:xfrm>
            <a:off x="7619695" y="1904695"/>
            <a:ext cx="3810305" cy="40005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0" y="1314907"/>
            <a:ext cx="2857500" cy="3840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61695" y="381305"/>
            <a:ext cx="1085850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i cel</a:t>
            </a:r>
            <a:endParaRPr lang="en-US" sz="3600" dirty="0"/>
          </a:p>
        </p:txBody>
      </p:sp>
      <p:sp>
        <p:nvSpPr>
          <p:cNvPr id="10" name="Text 5"/>
          <p:cNvSpPr txBox="1"/>
          <p:nvPr/>
        </p:nvSpPr>
        <p:spPr>
          <a:xfrm>
            <a:off x="1524305" y="2286000"/>
            <a:ext cx="54479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3C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Co chcieliśmy zbudować? </a:t>
            </a:r>
            <a:endParaRPr lang="en-US" sz="2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43000" y="2324405"/>
            <a:ext cx="267005" cy="26700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71600" y="2952598"/>
            <a:ext cx="56007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Język domenowy do opisu stron i treści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1371600" y="3457346"/>
            <a:ext cx="56007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Czytelna składnia dla użytkownika</a:t>
            </a:r>
            <a:endParaRPr lang="en-US" sz="1600" dirty="0"/>
          </a:p>
        </p:txBody>
      </p:sp>
      <p:sp>
        <p:nvSpPr>
          <p:cNvPr id="14" name="Text 8"/>
          <p:cNvSpPr txBox="1"/>
          <p:nvPr/>
        </p:nvSpPr>
        <p:spPr>
          <a:xfrm>
            <a:off x="1371600" y="3962095"/>
            <a:ext cx="556503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Możliwość modularnego rozbijania projektu na wiele plików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1371600" y="4781398"/>
            <a:ext cx="56007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Silnik z walidacją i komunikatami błędów</a:t>
            </a:r>
            <a:endParaRPr lang="en-US" sz="16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144000" y="2572207"/>
            <a:ext cx="761695" cy="76169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753198" y="3810305"/>
            <a:ext cx="35433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Dlaczego teraz?</a:t>
            </a:r>
            <a:endParaRPr lang="en-US" sz="1800" dirty="0"/>
          </a:p>
        </p:txBody>
      </p:sp>
      <p:sp>
        <p:nvSpPr>
          <p:cNvPr id="18" name="Text 11"/>
          <p:cNvSpPr txBox="1"/>
          <p:nvPr/>
        </p:nvSpPr>
        <p:spPr>
          <a:xfrm>
            <a:off x="7772400" y="4257446"/>
            <a:ext cx="35058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Powtarzalne strony statyczne wymagają ustrukturyzowanej treści połączonej z elastycznymi szablonami.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761695" y="6248095"/>
            <a:ext cx="1724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MoonChunk Tech Demo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11261750" y="6248095"/>
            <a:ext cx="247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1524305"/>
            <a:ext cx="3258007" cy="2048256"/>
          </a:xfrm>
          <a:prstGeom prst="roundRect">
            <a:avLst>
              <a:gd name="adj" fmla="val 33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695" y="1524305"/>
            <a:ext cx="3258007" cy="38405"/>
          </a:xfrm>
          <a:prstGeom prst="roundRect">
            <a:avLst>
              <a:gd name="adj" fmla="val 17718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76902" y="1524305"/>
            <a:ext cx="3258007" cy="2048256"/>
          </a:xfrm>
          <a:prstGeom prst="roundRect">
            <a:avLst>
              <a:gd name="adj" fmla="val 33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76902" y="1524305"/>
            <a:ext cx="3258007" cy="38405"/>
          </a:xfrm>
          <a:prstGeom prst="roundRect">
            <a:avLst>
              <a:gd name="adj" fmla="val 17718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91195" y="1524305"/>
            <a:ext cx="3258007" cy="2048256"/>
          </a:xfrm>
          <a:prstGeom prst="roundRect">
            <a:avLst>
              <a:gd name="adj" fmla="val 33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91195" y="1524305"/>
            <a:ext cx="3258007" cy="38405"/>
          </a:xfrm>
          <a:prstGeom prst="roundRect">
            <a:avLst>
              <a:gd name="adj" fmla="val 177186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1695" y="3810305"/>
            <a:ext cx="3258007" cy="2048256"/>
          </a:xfrm>
          <a:prstGeom prst="roundRect">
            <a:avLst>
              <a:gd name="adj" fmla="val 33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1695" y="3810305"/>
            <a:ext cx="3258007" cy="38405"/>
          </a:xfrm>
          <a:prstGeom prst="roundRect">
            <a:avLst>
              <a:gd name="adj" fmla="val 177186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76902" y="3810305"/>
            <a:ext cx="3258007" cy="2048256"/>
          </a:xfrm>
          <a:prstGeom prst="roundRect">
            <a:avLst>
              <a:gd name="adj" fmla="val 33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76902" y="3810305"/>
            <a:ext cx="3258007" cy="38405"/>
          </a:xfrm>
          <a:prstGeom prst="roundRect">
            <a:avLst>
              <a:gd name="adj" fmla="val 177186"/>
            </a:avLst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91195" y="3810305"/>
            <a:ext cx="3258007" cy="2048256"/>
          </a:xfrm>
          <a:prstGeom prst="roundRect">
            <a:avLst>
              <a:gd name="adj" fmla="val 33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1195" y="3810305"/>
            <a:ext cx="3258007" cy="38405"/>
          </a:xfrm>
          <a:prstGeom prst="roundRect">
            <a:avLst>
              <a:gd name="adj" fmla="val 177186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0" y="1123798"/>
            <a:ext cx="2381098" cy="2834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61695" y="333756"/>
            <a:ext cx="10858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DSL — Najważniejsze elementy</a:t>
            </a:r>
            <a:endParaRPr lang="en-US" sz="3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5" b="-45"/>
          <a:stretch/>
        </p:blipFill>
        <p:spPr>
          <a:xfrm>
            <a:off x="1024128" y="1800454"/>
            <a:ext cx="256946" cy="2286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371600" y="1781251"/>
            <a:ext cx="25365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Konfiguracja witryny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1000354" y="2190902"/>
            <a:ext cx="28392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Definiuje punkt wejścia i katalog docelowy.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1000354" y="2686507"/>
            <a:ext cx="1619402" cy="276149"/>
          </a:xfrm>
          <a:prstGeom prst="roundRect">
            <a:avLst>
              <a:gd name="adj" fmla="val 913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00354" y="2686507"/>
            <a:ext cx="1684325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 "App" { ... }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1000354" y="3038551"/>
            <a:ext cx="1380744" cy="276149"/>
          </a:xfrm>
          <a:prstGeom prst="roundRect">
            <a:avLst>
              <a:gd name="adj" fmla="val 913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00354" y="3038551"/>
            <a:ext cx="143835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"./dist"</a:t>
            </a:r>
            <a:endParaRPr lang="en-US" sz="10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-133" r="-133" t="0" b="0"/>
          <a:stretch/>
        </p:blipFill>
        <p:spPr>
          <a:xfrm>
            <a:off x="4781398" y="1800454"/>
            <a:ext cx="171907" cy="2286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5086807" y="1781251"/>
            <a:ext cx="25365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Strony i Szablony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4714646" y="2190902"/>
            <a:ext cx="28392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Generuje ścieżki HTML zmapowane na szablony.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714646" y="2686507"/>
            <a:ext cx="1457554" cy="276149"/>
          </a:xfrm>
          <a:prstGeom prst="roundRect">
            <a:avLst>
              <a:gd name="adj" fmla="val 913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714646" y="2686507"/>
            <a:ext cx="1516075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"/url.html"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714646" y="3038551"/>
            <a:ext cx="1695298" cy="276149"/>
          </a:xfrm>
          <a:prstGeom prst="roundRect">
            <a:avLst>
              <a:gd name="adj" fmla="val 913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4714646" y="3038551"/>
            <a:ext cx="1763878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"lay.tpl" { }</a:t>
            </a:r>
            <a:endParaRPr lang="en-US" sz="10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45" b="-45"/>
          <a:stretch/>
        </p:blipFill>
        <p:spPr>
          <a:xfrm>
            <a:off x="8453628" y="1800454"/>
            <a:ext cx="256946" cy="22860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801100" y="1781251"/>
            <a:ext cx="25365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 i Modułowość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8429854" y="2190902"/>
            <a:ext cx="311170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Zmienne lokalne i podział na pliki.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8429854" y="2486254"/>
            <a:ext cx="1619402" cy="276149"/>
          </a:xfrm>
          <a:prstGeom prst="roundRect">
            <a:avLst>
              <a:gd name="adj" fmla="val 913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8429854" y="2486254"/>
            <a:ext cx="1684325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title = "Home"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8429854" y="2838298"/>
            <a:ext cx="1695298" cy="276149"/>
          </a:xfrm>
          <a:prstGeom prst="roundRect">
            <a:avLst>
              <a:gd name="adj" fmla="val 913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8429854" y="2838298"/>
            <a:ext cx="1763878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"comp.mncnk"</a:t>
            </a:r>
            <a:endParaRPr lang="en-US" sz="10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1052474" y="4086454"/>
            <a:ext cx="200254" cy="228600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371600" y="4067251"/>
            <a:ext cx="25365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Przepływ Sterowania</a:t>
            </a:r>
            <a:endParaRPr lang="en-US" sz="1500" dirty="0"/>
          </a:p>
        </p:txBody>
      </p:sp>
      <p:sp>
        <p:nvSpPr>
          <p:cNvPr id="43" name="Text 36"/>
          <p:cNvSpPr txBox="1"/>
          <p:nvPr/>
        </p:nvSpPr>
        <p:spPr>
          <a:xfrm>
            <a:off x="1000354" y="4476902"/>
            <a:ext cx="31967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Pętle i warunkowe generowanie stron.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1000354" y="4772254"/>
            <a:ext cx="1781251" cy="276149"/>
          </a:xfrm>
          <a:prstGeom prst="roundRect">
            <a:avLst>
              <a:gd name="adj" fmla="val 913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1000354" y="4772254"/>
            <a:ext cx="185257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item in list { }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1000354" y="5124298"/>
            <a:ext cx="1933956" cy="276149"/>
          </a:xfrm>
          <a:prstGeom prst="roundRect">
            <a:avLst>
              <a:gd name="adj" fmla="val 913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1000354" y="5124298"/>
            <a:ext cx="200985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enabled == true { }</a:t>
            </a:r>
            <a:endParaRPr lang="en-US" sz="1000" dirty="0"/>
          </a:p>
        </p:txBody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rcRect l="-57" r="-57" t="0" b="0"/>
          <a:stretch/>
        </p:blipFill>
        <p:spPr>
          <a:xfrm>
            <a:off x="4767682" y="4086454"/>
            <a:ext cx="200254" cy="228600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5086807" y="4067251"/>
            <a:ext cx="281452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Dane i Zmienne Globalne</a:t>
            </a:r>
            <a:endParaRPr lang="en-US" sz="1500" dirty="0"/>
          </a:p>
        </p:txBody>
      </p:sp>
      <p:sp>
        <p:nvSpPr>
          <p:cNvPr id="50" name="Text 42"/>
          <p:cNvSpPr txBox="1"/>
          <p:nvPr/>
        </p:nvSpPr>
        <p:spPr>
          <a:xfrm>
            <a:off x="4714646" y="4476902"/>
            <a:ext cx="28392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Zewnętrzne pliki JSON i globalna przestrzeń nazw.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4714646" y="4972507"/>
            <a:ext cx="1619402" cy="276149"/>
          </a:xfrm>
          <a:prstGeom prst="roundRect">
            <a:avLst>
              <a:gd name="adj" fmla="val 913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4714646" y="4972507"/>
            <a:ext cx="1684325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data("posts.json")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4714646" y="5324551"/>
            <a:ext cx="1857146" cy="276149"/>
          </a:xfrm>
          <a:prstGeom prst="roundRect">
            <a:avLst>
              <a:gd name="adj" fmla="val 913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46"/>
          <p:cNvSpPr txBox="1"/>
          <p:nvPr/>
        </p:nvSpPr>
        <p:spPr>
          <a:xfrm>
            <a:off x="4714646" y="5324551"/>
            <a:ext cx="193212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{ global author }</a:t>
            </a:r>
            <a:endParaRPr lang="en-US" sz="1000" dirty="0"/>
          </a:p>
        </p:txBody>
      </p:sp>
      <p:pic>
        <p:nvPicPr>
          <p:cNvPr id="55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467344" y="4086454"/>
            <a:ext cx="228600" cy="228600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8801100" y="4067251"/>
            <a:ext cx="253654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Typy i Interpolacja</a:t>
            </a:r>
            <a:endParaRPr lang="en-US" sz="1500" dirty="0"/>
          </a:p>
        </p:txBody>
      </p:sp>
      <p:sp>
        <p:nvSpPr>
          <p:cNvPr id="57" name="Text 48"/>
          <p:cNvSpPr txBox="1"/>
          <p:nvPr/>
        </p:nvSpPr>
        <p:spPr>
          <a:xfrm>
            <a:off x="8429854" y="4476902"/>
            <a:ext cx="28392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Wbudowane typy liczbowe i interpolacja w łańcuchach.</a:t>
            </a:r>
            <a:endParaRPr lang="en-US" sz="1100" dirty="0"/>
          </a:p>
        </p:txBody>
      </p:sp>
      <p:sp>
        <p:nvSpPr>
          <p:cNvPr id="58" name="Shape 49"/>
          <p:cNvSpPr/>
          <p:nvPr/>
        </p:nvSpPr>
        <p:spPr>
          <a:xfrm>
            <a:off x="8429854" y="4972507"/>
            <a:ext cx="2095805" cy="276149"/>
          </a:xfrm>
          <a:prstGeom prst="roundRect">
            <a:avLst>
              <a:gd name="adj" fmla="val 913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9" name="Text 50"/>
          <p:cNvSpPr txBox="1"/>
          <p:nvPr/>
        </p:nvSpPr>
        <p:spPr>
          <a:xfrm>
            <a:off x="8429854" y="4972507"/>
            <a:ext cx="21717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int, float, bool, string</a:t>
            </a:r>
            <a:endParaRPr lang="en-US" sz="1000" dirty="0"/>
          </a:p>
        </p:txBody>
      </p:sp>
      <p:sp>
        <p:nvSpPr>
          <p:cNvPr id="60" name="Shape 51"/>
          <p:cNvSpPr/>
          <p:nvPr/>
        </p:nvSpPr>
        <p:spPr>
          <a:xfrm>
            <a:off x="8429854" y="5324551"/>
            <a:ext cx="1933956" cy="276149"/>
          </a:xfrm>
          <a:prstGeom prst="roundRect">
            <a:avLst>
              <a:gd name="adj" fmla="val 913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1" name="Text 52"/>
          <p:cNvSpPr txBox="1"/>
          <p:nvPr/>
        </p:nvSpPr>
        <p:spPr>
          <a:xfrm>
            <a:off x="8429854" y="5324551"/>
            <a:ext cx="200985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Path: "/{{name}}.html"</a:t>
            </a:r>
            <a:endParaRPr lang="en-US" sz="1000" dirty="0"/>
          </a:p>
        </p:txBody>
      </p:sp>
      <p:sp>
        <p:nvSpPr>
          <p:cNvPr id="62" name="Shape 53"/>
          <p:cNvSpPr/>
          <p:nvPr/>
        </p:nvSpPr>
        <p:spPr>
          <a:xfrm>
            <a:off x="761695" y="6001207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3" name="Text 54"/>
          <p:cNvSpPr txBox="1"/>
          <p:nvPr/>
        </p:nvSpPr>
        <p:spPr>
          <a:xfrm>
            <a:off x="761695" y="6152998"/>
            <a:ext cx="1724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MoonChunk Tech Demo</a:t>
            </a:r>
            <a:endParaRPr lang="en-US" sz="1000" dirty="0"/>
          </a:p>
        </p:txBody>
      </p:sp>
      <p:sp>
        <p:nvSpPr>
          <p:cNvPr id="64" name="Text 55"/>
          <p:cNvSpPr txBox="1"/>
          <p:nvPr/>
        </p:nvSpPr>
        <p:spPr>
          <a:xfrm>
            <a:off x="11259922" y="6152998"/>
            <a:ext cx="247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1524305"/>
            <a:ext cx="4591202" cy="4209898"/>
          </a:xfrm>
          <a:prstGeom prst="roundRect">
            <a:avLst>
              <a:gd name="adj" fmla="val 7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5715000" y="1524305"/>
            <a:ext cx="5734202" cy="420989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0" y="1123798"/>
            <a:ext cx="2381098" cy="28346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10" r="-10" t="0" b="0"/>
          <a:stretch/>
        </p:blipFill>
        <p:spPr>
          <a:xfrm>
            <a:off x="5715000" y="1524305"/>
            <a:ext cx="5715000" cy="39044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61695" y="333756"/>
            <a:ext cx="10858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Scenariusz 01 — Minimalny działający site</a:t>
            </a:r>
            <a:endParaRPr lang="en-US" sz="3100" dirty="0"/>
          </a:p>
        </p:txBody>
      </p:sp>
      <p:sp>
        <p:nvSpPr>
          <p:cNvPr id="11" name="Text 6"/>
          <p:cNvSpPr txBox="1"/>
          <p:nvPr/>
        </p:nvSpPr>
        <p:spPr>
          <a:xfrm>
            <a:off x="1276502" y="1809598"/>
            <a:ext cx="38862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examples/scenarios/01-site-basic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1047902" y="2143354"/>
            <a:ext cx="41148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Przepływ (Flow)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1047902" y="2505456"/>
            <a:ext cx="2095805" cy="400507"/>
          </a:xfrm>
          <a:prstGeom prst="roundRect">
            <a:avLst>
              <a:gd name="adj" fmla="val 6523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1190549" y="2505456"/>
            <a:ext cx="4096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2571" r="-2571" t="0" b="0"/>
          <a:stretch/>
        </p:blipFill>
        <p:spPr>
          <a:xfrm>
            <a:off x="1610258" y="2648102"/>
            <a:ext cx="105156" cy="1143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90395" y="2505456"/>
            <a:ext cx="4096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2210105" y="2648102"/>
            <a:ext cx="105156" cy="1143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391156" y="2505456"/>
            <a:ext cx="667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11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-837" r="-837" t="0" b="0"/>
          <a:stretch/>
        </p:blipFill>
        <p:spPr>
          <a:xfrm>
            <a:off x="1047902" y="1836115"/>
            <a:ext cx="152705" cy="13350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905195" y="1647749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6096305" y="1647749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286500" y="1647749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10496398" y="1619402"/>
            <a:ext cx="86593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site.mncnk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5905195" y="2115007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6270955" y="2115007"/>
            <a:ext cx="15435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"MoonChunk Demo"</a:t>
            </a:r>
            <a:endParaRPr lang="en-US" sz="1200" dirty="0"/>
          </a:p>
        </p:txBody>
      </p:sp>
      <p:sp>
        <p:nvSpPr>
          <p:cNvPr id="26" name="Text 18"/>
          <p:cNvSpPr txBox="1"/>
          <p:nvPr/>
        </p:nvSpPr>
        <p:spPr>
          <a:xfrm>
            <a:off x="7734910" y="2115007"/>
            <a:ext cx="352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</p:txBody>
      </p:sp>
      <p:sp>
        <p:nvSpPr>
          <p:cNvPr id="27" name="Text 19"/>
          <p:cNvSpPr txBox="1"/>
          <p:nvPr/>
        </p:nvSpPr>
        <p:spPr>
          <a:xfrm>
            <a:off x="8009230" y="2115007"/>
            <a:ext cx="6291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8557870" y="2115007"/>
            <a:ext cx="8101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"./dist"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9289390" y="2115007"/>
            <a:ext cx="267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9472270" y="2115007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9838030" y="2115007"/>
            <a:ext cx="12673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"/index.html"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11026750" y="2115007"/>
            <a:ext cx="5431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11484864" y="2115007"/>
            <a:ext cx="11814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"layout.tpl"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2582144" y="2115007"/>
            <a:ext cx="352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12856464" y="2115007"/>
            <a:ext cx="352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13130784" y="2115007"/>
            <a:ext cx="9052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=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13953744" y="2115007"/>
            <a:ext cx="724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14593824" y="2115007"/>
            <a:ext cx="267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14776704" y="2115007"/>
            <a:ext cx="352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15051938" y="2115007"/>
            <a:ext cx="7242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=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15692018" y="2115007"/>
            <a:ext cx="21003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"Welcome to MoonChunk"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17703698" y="2115007"/>
            <a:ext cx="5431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 }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761695" y="6001207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761695" y="6152998"/>
            <a:ext cx="1724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MoonChunk Tech Demo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11256264" y="6152998"/>
            <a:ext cx="2578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35239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33195"/>
            <a:ext cx="1219169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761695" y="1904695"/>
            <a:ext cx="6495898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9695" y="1904695"/>
            <a:ext cx="3810305" cy="4000500"/>
          </a:xfrm>
          <a:prstGeom prst="roundRect">
            <a:avLst>
              <a:gd name="adj" fmla="val 144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0" y="1314907"/>
            <a:ext cx="2857500" cy="384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1695" y="381305"/>
            <a:ext cx="11622024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Scenariusze 02–06 — Modularność i importy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1591056" y="2286000"/>
            <a:ext cx="595274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3C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Importowany plik może zaczynać się od:</a:t>
            </a:r>
            <a:endParaRPr lang="en-US" sz="2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143000" y="2324405"/>
            <a:ext cx="333756" cy="2670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952598"/>
            <a:ext cx="56007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</a:t>
            </a:r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(02)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1371600" y="3409798"/>
            <a:ext cx="56007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(03)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866998"/>
            <a:ext cx="56007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(04)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324198"/>
            <a:ext cx="56007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(05)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4781398"/>
            <a:ext cx="5565038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oraz importów zagnieżdżonych (06: </a:t>
            </a:r>
            <a:pPr algn="l" indent="0" marL="0">
              <a:buNone/>
            </a:pPr>
            <a:r>
              <a:rPr lang="en-US" sz="1600" dirty="0">
                <a:solidFill>
                  <a:srgbClr val="FDE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 -&gt; shared/pages</a:t>
            </a:r>
            <a:pPr algn="l"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-47" r="-47" t="0" b="0"/>
          <a:stretch/>
        </p:blipFill>
        <p:spPr>
          <a:xfrm>
            <a:off x="9096451" y="2476195"/>
            <a:ext cx="857707" cy="76169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753198" y="3619195"/>
            <a:ext cx="354330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Wniosek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0" y="4095598"/>
            <a:ext cx="3505810" cy="924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Projekt wspiera płynne i bezpieczne składanie aplikacji z wielu plików </a:t>
            </a:r>
            <a:pPr algn="ctr"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.mncnk</a:t>
            </a:r>
            <a:pPr algn="ctr"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61695" y="6248095"/>
            <a:ext cx="1724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MoonChunk Tech Demo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1263579" y="6248095"/>
            <a:ext cx="247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1524305"/>
            <a:ext cx="4591202" cy="4401007"/>
          </a:xfrm>
          <a:prstGeom prst="roundRect">
            <a:avLst>
              <a:gd name="adj" fmla="val 72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5715000" y="1524305"/>
            <a:ext cx="5734202" cy="420989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0" y="1123798"/>
            <a:ext cx="2381098" cy="28346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10" r="-10" t="0" b="0"/>
          <a:stretch/>
        </p:blipFill>
        <p:spPr>
          <a:xfrm>
            <a:off x="5715000" y="1524305"/>
            <a:ext cx="5715000" cy="39044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61695" y="333756"/>
            <a:ext cx="10858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Scenariusz 03 — Generowanie wielu stron z pętli</a:t>
            </a:r>
            <a:endParaRPr lang="en-US" sz="2800" dirty="0"/>
          </a:p>
        </p:txBody>
      </p:sp>
      <p:sp>
        <p:nvSpPr>
          <p:cNvPr id="11" name="Text 6"/>
          <p:cNvSpPr txBox="1"/>
          <p:nvPr/>
        </p:nvSpPr>
        <p:spPr>
          <a:xfrm>
            <a:off x="1267358" y="1809598"/>
            <a:ext cx="389534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examples/scenarios/03-import-for-start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047902" y="2133295"/>
            <a:ext cx="41148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Wykonanie pętli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1047902" y="2457907"/>
            <a:ext cx="4000500" cy="390449"/>
          </a:xfrm>
          <a:prstGeom prst="roundRect">
            <a:avLst>
              <a:gd name="adj" fmla="val 6854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1190549" y="2457907"/>
            <a:ext cx="3813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dane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1677" r="-1677" t="0" b="0"/>
          <a:stretch/>
        </p:blipFill>
        <p:spPr>
          <a:xfrm>
            <a:off x="1587398" y="2600554"/>
            <a:ext cx="95098" cy="1051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758391" y="2457907"/>
            <a:ext cx="78181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dla (for)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-1677" r="-1677" t="0" b="0"/>
          <a:stretch/>
        </p:blipFill>
        <p:spPr>
          <a:xfrm>
            <a:off x="2554834" y="2600554"/>
            <a:ext cx="95098" cy="105156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726741" y="2457907"/>
            <a:ext cx="70500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strony[]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1238098" y="3076956"/>
            <a:ext cx="38862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Główny koncept: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item in data("items.json")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1238098" y="3672230"/>
            <a:ext cx="38862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Dynamiczna ścieżka: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"/items/{{item.slug}}.html"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1238098" y="4267505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Efekt: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Wiele plików HTML wygenerowanych automatycznie.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1238098" y="4839005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Korzyści: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Skalowanie treści bez kopiuj-wklej, routing oparty o dane.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-1358" r="-1358" t="0" b="0"/>
          <a:stretch/>
        </p:blipFill>
        <p:spPr>
          <a:xfrm>
            <a:off x="1047902" y="1835201"/>
            <a:ext cx="142646" cy="12344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5905195" y="1647749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6096305" y="1647749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6286500" y="1647749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10422331" y="1619402"/>
            <a:ext cx="94274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pages.mncnk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5905195" y="2115007"/>
            <a:ext cx="352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6179515" y="2115007"/>
            <a:ext cx="6291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6729070" y="2115007"/>
            <a:ext cx="2670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6911950" y="2115007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7277710" y="2115007"/>
            <a:ext cx="171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7369150" y="2115007"/>
            <a:ext cx="11814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"items.json"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8466430" y="2115007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8832190" y="2115007"/>
            <a:ext cx="4480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9197950" y="2115007"/>
            <a:ext cx="257586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"/items/{{item.slug}}.html"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11667744" y="2115007"/>
            <a:ext cx="5431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endParaRPr lang="en-US" sz="1200" dirty="0"/>
          </a:p>
        </p:txBody>
      </p:sp>
      <p:sp>
        <p:nvSpPr>
          <p:cNvPr id="38" name="Text 30"/>
          <p:cNvSpPr txBox="1"/>
          <p:nvPr/>
        </p:nvSpPr>
        <p:spPr>
          <a:xfrm>
            <a:off x="12124944" y="2115007"/>
            <a:ext cx="10003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"item.tpl"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13039344" y="2115007"/>
            <a:ext cx="352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13313664" y="2115007"/>
            <a:ext cx="352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13587984" y="2115007"/>
            <a:ext cx="18196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item.name;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15326258" y="2115007"/>
            <a:ext cx="352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200" dirty="0"/>
          </a:p>
        </p:txBody>
      </p:sp>
      <p:sp>
        <p:nvSpPr>
          <p:cNvPr id="43" name="Text 35"/>
          <p:cNvSpPr txBox="1"/>
          <p:nvPr/>
        </p:nvSpPr>
        <p:spPr>
          <a:xfrm>
            <a:off x="15600578" y="2115007"/>
            <a:ext cx="22887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item.price; } }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761695" y="6143854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761695" y="6295644"/>
            <a:ext cx="1724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MoonChunk Tech Demo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11259922" y="6295644"/>
            <a:ext cx="247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1524305"/>
            <a:ext cx="4591202" cy="4209898"/>
          </a:xfrm>
          <a:prstGeom prst="roundRect">
            <a:avLst>
              <a:gd name="adj" fmla="val 7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5715000" y="1524305"/>
            <a:ext cx="5734202" cy="420989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0" y="1123798"/>
            <a:ext cx="2381098" cy="28346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-10" r="-10" t="0" b="0"/>
          <a:stretch/>
        </p:blipFill>
        <p:spPr>
          <a:xfrm>
            <a:off x="5715000" y="1524305"/>
            <a:ext cx="5715000" cy="39044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61695" y="333756"/>
            <a:ext cx="10858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Scenariusz 04 — Warunkowe generowanie</a:t>
            </a:r>
            <a:endParaRPr lang="en-US" sz="3100" dirty="0"/>
          </a:p>
        </p:txBody>
      </p:sp>
      <p:sp>
        <p:nvSpPr>
          <p:cNvPr id="11" name="Text 6"/>
          <p:cNvSpPr txBox="1"/>
          <p:nvPr/>
        </p:nvSpPr>
        <p:spPr>
          <a:xfrm>
            <a:off x="1219810" y="1762049"/>
            <a:ext cx="39913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examples/scenarios/04-import-if-start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1000354" y="2085746"/>
            <a:ext cx="4210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Przepływ sterowania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1000354" y="2409444"/>
            <a:ext cx="4095598" cy="400507"/>
          </a:xfrm>
          <a:prstGeom prst="roundRect">
            <a:avLst>
              <a:gd name="adj" fmla="val 6523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1143000" y="2409444"/>
            <a:ext cx="2386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2571" r="-2571" t="0" b="0"/>
          <a:stretch/>
        </p:blipFill>
        <p:spPr>
          <a:xfrm>
            <a:off x="1390802" y="2553005"/>
            <a:ext cx="105156" cy="1143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571854" y="2409444"/>
            <a:ext cx="667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warunek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2248510" y="2553005"/>
            <a:ext cx="105156" cy="1143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429561" y="2409444"/>
            <a:ext cx="4096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1171346" y="3038551"/>
            <a:ext cx="4000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Definicja flagi logicznej: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enabled = true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171346" y="3666744"/>
            <a:ext cx="40005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Wzorzec warunkowy: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enabled == true { ... }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171346" y="4295851"/>
            <a:ext cx="40005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Praktyczne rezultaty: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Strona generuje się tylko, gdy warunek jest spełniony (przydatne do feature flag, testów A/B lub wersji roboczych).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-1358" r="-1358" t="0" b="0"/>
          <a:stretch/>
        </p:blipFill>
        <p:spPr>
          <a:xfrm>
            <a:off x="1000354" y="1786738"/>
            <a:ext cx="142646" cy="1234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905195" y="1647749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6096305" y="1647749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6286500" y="1647749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10050170" y="1619402"/>
            <a:ext cx="136977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conditions.mncnk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5905195" y="2066544"/>
            <a:ext cx="342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6163056" y="2066544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show_beta =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7277710" y="2066544"/>
            <a:ext cx="428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7620610" y="2066544"/>
            <a:ext cx="257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7792517" y="2066544"/>
            <a:ext cx="342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8049463" y="2066544"/>
            <a:ext cx="1200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user_type =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9164117" y="2066544"/>
            <a:ext cx="685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"admin"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9764878" y="2066544"/>
            <a:ext cx="257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9935870" y="2066544"/>
            <a:ext cx="257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10107778" y="2066544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show_beta ==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11308385" y="2066544"/>
            <a:ext cx="428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11651285" y="2066544"/>
            <a:ext cx="342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11908231" y="2066544"/>
            <a:ext cx="4288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12251131" y="2066544"/>
            <a:ext cx="19723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"/beta/dashboard.html"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14137538" y="2066544"/>
            <a:ext cx="514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</a:t>
            </a:r>
            <a:endParaRPr lang="en-US" sz="1100" dirty="0"/>
          </a:p>
        </p:txBody>
      </p:sp>
      <p:sp>
        <p:nvSpPr>
          <p:cNvPr id="42" name="Text 34"/>
          <p:cNvSpPr txBox="1"/>
          <p:nvPr/>
        </p:nvSpPr>
        <p:spPr>
          <a:xfrm>
            <a:off x="14566392" y="2066544"/>
            <a:ext cx="1543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"beta_layout.tpl"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16023946" y="2066544"/>
            <a:ext cx="342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44" name="Text 36"/>
          <p:cNvSpPr txBox="1"/>
          <p:nvPr/>
        </p:nvSpPr>
        <p:spPr>
          <a:xfrm>
            <a:off x="16281806" y="2066544"/>
            <a:ext cx="342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</a:t>
            </a:r>
            <a:endParaRPr lang="en-US" sz="1100" dirty="0"/>
          </a:p>
        </p:txBody>
      </p:sp>
      <p:sp>
        <p:nvSpPr>
          <p:cNvPr id="45" name="Text 37"/>
          <p:cNvSpPr txBox="1"/>
          <p:nvPr/>
        </p:nvSpPr>
        <p:spPr>
          <a:xfrm>
            <a:off x="16538753" y="2066544"/>
            <a:ext cx="857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=</a:t>
            </a:r>
            <a:endParaRPr lang="en-US" sz="1100" dirty="0"/>
          </a:p>
        </p:txBody>
      </p:sp>
      <p:sp>
        <p:nvSpPr>
          <p:cNvPr id="46" name="Text 38"/>
          <p:cNvSpPr txBox="1"/>
          <p:nvPr/>
        </p:nvSpPr>
        <p:spPr>
          <a:xfrm>
            <a:off x="17310506" y="2066544"/>
            <a:ext cx="14575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"Beta Dashboard"</a:t>
            </a:r>
            <a:endParaRPr lang="en-US" sz="1100" dirty="0"/>
          </a:p>
        </p:txBody>
      </p:sp>
      <p:sp>
        <p:nvSpPr>
          <p:cNvPr id="47" name="Text 39"/>
          <p:cNvSpPr txBox="1"/>
          <p:nvPr/>
        </p:nvSpPr>
        <p:spPr>
          <a:xfrm>
            <a:off x="18682106" y="2066544"/>
            <a:ext cx="600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 }</a:t>
            </a:r>
            <a:endParaRPr lang="en-US" sz="1100" dirty="0"/>
          </a:p>
        </p:txBody>
      </p:sp>
      <p:sp>
        <p:nvSpPr>
          <p:cNvPr id="48" name="Text 40"/>
          <p:cNvSpPr txBox="1"/>
          <p:nvPr/>
        </p:nvSpPr>
        <p:spPr>
          <a:xfrm>
            <a:off x="19196914" y="2066544"/>
            <a:ext cx="2578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100" dirty="0"/>
          </a:p>
        </p:txBody>
      </p:sp>
      <p:sp>
        <p:nvSpPr>
          <p:cNvPr id="49" name="Text 41"/>
          <p:cNvSpPr txBox="1"/>
          <p:nvPr/>
        </p:nvSpPr>
        <p:spPr>
          <a:xfrm>
            <a:off x="19368821" y="2066544"/>
            <a:ext cx="1286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user_type ==</a:t>
            </a:r>
            <a:endParaRPr lang="en-US" sz="1100" dirty="0"/>
          </a:p>
        </p:txBody>
      </p:sp>
      <p:sp>
        <p:nvSpPr>
          <p:cNvPr id="50" name="Text 42"/>
          <p:cNvSpPr txBox="1"/>
          <p:nvPr/>
        </p:nvSpPr>
        <p:spPr>
          <a:xfrm>
            <a:off x="20569428" y="2066544"/>
            <a:ext cx="685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"admin"</a:t>
            </a:r>
            <a:endParaRPr lang="en-US" sz="1100" dirty="0"/>
          </a:p>
        </p:txBody>
      </p:sp>
      <p:sp>
        <p:nvSpPr>
          <p:cNvPr id="51" name="Text 43"/>
          <p:cNvSpPr txBox="1"/>
          <p:nvPr/>
        </p:nvSpPr>
        <p:spPr>
          <a:xfrm>
            <a:off x="21169274" y="2066544"/>
            <a:ext cx="342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</p:txBody>
      </p:sp>
      <p:sp>
        <p:nvSpPr>
          <p:cNvPr id="52" name="Text 44"/>
          <p:cNvSpPr txBox="1"/>
          <p:nvPr/>
        </p:nvSpPr>
        <p:spPr>
          <a:xfrm>
            <a:off x="21426221" y="2066544"/>
            <a:ext cx="600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endParaRPr lang="en-US" sz="1100" dirty="0"/>
          </a:p>
        </p:txBody>
      </p:sp>
      <p:sp>
        <p:nvSpPr>
          <p:cNvPr id="53" name="Text 45"/>
          <p:cNvSpPr txBox="1"/>
          <p:nvPr/>
        </p:nvSpPr>
        <p:spPr>
          <a:xfrm>
            <a:off x="21941028" y="2066544"/>
            <a:ext cx="18004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"admin_routes.mncnk"</a:t>
            </a:r>
            <a:endParaRPr lang="en-US" sz="1100" dirty="0"/>
          </a:p>
        </p:txBody>
      </p:sp>
      <p:sp>
        <p:nvSpPr>
          <p:cNvPr id="54" name="Text 46"/>
          <p:cNvSpPr txBox="1"/>
          <p:nvPr/>
        </p:nvSpPr>
        <p:spPr>
          <a:xfrm>
            <a:off x="23655528" y="2066544"/>
            <a:ext cx="342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}</a:t>
            </a:r>
            <a:endParaRPr lang="en-US" sz="1100" dirty="0"/>
          </a:p>
        </p:txBody>
      </p:sp>
      <p:sp>
        <p:nvSpPr>
          <p:cNvPr id="55" name="Shape 47"/>
          <p:cNvSpPr/>
          <p:nvPr/>
        </p:nvSpPr>
        <p:spPr>
          <a:xfrm>
            <a:off x="761695" y="6001207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761695" y="6152998"/>
            <a:ext cx="1724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MoonChunk Tech Demo</a:t>
            </a:r>
            <a:endParaRPr lang="en-US" sz="1000" dirty="0"/>
          </a:p>
        </p:txBody>
      </p:sp>
      <p:sp>
        <p:nvSpPr>
          <p:cNvPr id="57" name="Text 49"/>
          <p:cNvSpPr txBox="1"/>
          <p:nvPr/>
        </p:nvSpPr>
        <p:spPr>
          <a:xfrm>
            <a:off x="11269980" y="6152998"/>
            <a:ext cx="238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1524305"/>
            <a:ext cx="5162702" cy="2048256"/>
          </a:xfrm>
          <a:prstGeom prst="roundRect">
            <a:avLst>
              <a:gd name="adj" fmla="val 33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1695" y="1524305"/>
            <a:ext cx="5162702" cy="38405"/>
          </a:xfrm>
          <a:prstGeom prst="roundRect">
            <a:avLst>
              <a:gd name="adj" fmla="val 17718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6500" y="1524305"/>
            <a:ext cx="5162702" cy="2048256"/>
          </a:xfrm>
          <a:prstGeom prst="roundRect">
            <a:avLst>
              <a:gd name="adj" fmla="val 33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6500" y="1524305"/>
            <a:ext cx="5162702" cy="38405"/>
          </a:xfrm>
          <a:prstGeom prst="roundRect">
            <a:avLst>
              <a:gd name="adj" fmla="val 177186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1695" y="3810305"/>
            <a:ext cx="5162702" cy="2048256"/>
          </a:xfrm>
          <a:prstGeom prst="roundRect">
            <a:avLst>
              <a:gd name="adj" fmla="val 33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695" y="3810305"/>
            <a:ext cx="5162702" cy="38405"/>
          </a:xfrm>
          <a:prstGeom prst="roundRect">
            <a:avLst>
              <a:gd name="adj" fmla="val 177186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3810305"/>
            <a:ext cx="5162702" cy="2048256"/>
          </a:xfrm>
          <a:prstGeom prst="roundRect">
            <a:avLst>
              <a:gd name="adj" fmla="val 33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3810305"/>
            <a:ext cx="5162702" cy="38405"/>
          </a:xfrm>
          <a:prstGeom prst="roundRect">
            <a:avLst>
              <a:gd name="adj" fmla="val 177186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0" y="1123798"/>
            <a:ext cx="2381098" cy="2834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61695" y="333756"/>
            <a:ext cx="10858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Scenariusze 07–08 — Typy i zakres globalny</a:t>
            </a:r>
            <a:endParaRPr lang="en-US" sz="3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1067105" y="1800454"/>
            <a:ext cx="171907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371600" y="1781251"/>
            <a:ext cx="44577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Arytmetyka i Logika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000354" y="2190902"/>
            <a:ext cx="47439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Operacje arytmetyczne na typach liczbowych ze standardowym priorytetem.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1190549" y="2686507"/>
            <a:ext cx="45912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Różnice i obsługa typów </a:t>
            </a:r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 </a:t>
            </a:r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1190549" y="2924251"/>
            <a:ext cx="45912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Podstawowa arytmetyka: </a:t>
            </a:r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1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6534302" y="1800454"/>
            <a:ext cx="286207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896405" y="1781251"/>
            <a:ext cx="44577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Porównania i Warunki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6524244" y="2190902"/>
            <a:ext cx="47823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Obliczanie wartości wyrażeń do zarządzania przepływem.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6715354" y="2486254"/>
            <a:ext cx="45912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Operatory relacyjne: </a:t>
            </a:r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6715354" y="2723998"/>
            <a:ext cx="45912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Składanie warunków logicznych: </a:t>
            </a:r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endParaRPr lang="en-US" sz="11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37844" y="4086454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371600" y="4067251"/>
            <a:ext cx="44577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Środowisko Globalne (env)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1000354" y="4476902"/>
            <a:ext cx="47439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Deklarowanie zmiennych ogólnostronowych, dostępnych z każdego miejsca.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1000354" y="4972507"/>
            <a:ext cx="2819095" cy="276149"/>
          </a:xfrm>
          <a:prstGeom prst="roundRect">
            <a:avLst>
              <a:gd name="adj" fmla="val 913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000354" y="4972507"/>
            <a:ext cx="2895905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{ global site_name = "Demo" }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1000354" y="5324551"/>
            <a:ext cx="2895905" cy="276149"/>
          </a:xfrm>
          <a:prstGeom prst="roundRect">
            <a:avLst>
              <a:gd name="adj" fmla="val 9134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000354" y="5324551"/>
            <a:ext cx="297180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... { let title = site_name }</a:t>
            </a:r>
            <a:endParaRPr lang="en-US" sz="10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5" b="-45"/>
          <a:stretch/>
        </p:blipFill>
        <p:spPr>
          <a:xfrm>
            <a:off x="6548018" y="4086454"/>
            <a:ext cx="256946" cy="22860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896405" y="4067251"/>
            <a:ext cx="44577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Dostępność przy Renderowaniu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6524244" y="4476902"/>
            <a:ext cx="51727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Zmienne globalne dostępne przy renderowaniu całego serwisu.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6715354" y="4772254"/>
            <a:ext cx="5000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Dostępne w szablonach na wszystkich generowanych stronach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6715354" y="5000854"/>
            <a:ext cx="5162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Przydatne dla konfiguracji, kluczy API, czy wspólnych ustawień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761695" y="6001207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761695" y="6152998"/>
            <a:ext cx="1724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MoonChunk Tech Demo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11259922" y="6152998"/>
            <a:ext cx="247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1695" y="1524305"/>
            <a:ext cx="10687507" cy="401970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0" y="1123798"/>
            <a:ext cx="2381098" cy="2834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47902" y="1904695"/>
            <a:ext cx="2686507" cy="1352398"/>
          </a:xfrm>
          <a:prstGeom prst="roundRect">
            <a:avLst>
              <a:gd name="adj" fmla="val 7618"/>
            </a:avLst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429354" y="1904695"/>
            <a:ext cx="2686507" cy="1352398"/>
          </a:xfrm>
          <a:prstGeom prst="roundRect">
            <a:avLst>
              <a:gd name="adj" fmla="val 7618"/>
            </a:avLst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810805" y="1904695"/>
            <a:ext cx="2686507" cy="1352398"/>
          </a:xfrm>
          <a:prstGeom prst="roundRect">
            <a:avLst>
              <a:gd name="adj" fmla="val 7618"/>
            </a:avLst>
          </a:prstGeom>
          <a:solidFill>
            <a:srgbClr val="0F17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47902" y="3619195"/>
            <a:ext cx="2686507" cy="1352398"/>
          </a:xfrm>
          <a:prstGeom prst="roundRect">
            <a:avLst>
              <a:gd name="adj" fmla="val 7618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429354" y="3619195"/>
            <a:ext cx="2686507" cy="1352398"/>
          </a:xfrm>
          <a:prstGeom prst="roundRect">
            <a:avLst>
              <a:gd name="adj" fmla="val 7618"/>
            </a:avLst>
          </a:prstGeom>
          <a:solidFill>
            <a:srgbClr val="0F172A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810805" y="3619195"/>
            <a:ext cx="2686507" cy="1352398"/>
          </a:xfrm>
          <a:prstGeom prst="roundRect">
            <a:avLst>
              <a:gd name="adj" fmla="val 7618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61695" y="333756"/>
            <a:ext cx="10858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Pod maską — Architektura kompilatora</a:t>
            </a:r>
            <a:endParaRPr lang="en-US" sz="3100" dirty="0"/>
          </a:p>
        </p:txBody>
      </p:sp>
      <p:sp>
        <p:nvSpPr>
          <p:cNvPr id="15" name="Shape 11"/>
          <p:cNvSpPr/>
          <p:nvPr/>
        </p:nvSpPr>
        <p:spPr>
          <a:xfrm>
            <a:off x="1190549" y="2048256"/>
            <a:ext cx="381305" cy="38130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337767" y="2115007"/>
            <a:ext cx="1719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1666951" y="2048256"/>
            <a:ext cx="20967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Parsing składni DSL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666951" y="2343607"/>
            <a:ext cx="19815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ANTLR przetwarza pliki źródłowe, generując początkową strukturę.</a:t>
            </a:r>
            <a:endParaRPr lang="en-US" sz="1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-57" r="-57" t="0" b="0"/>
          <a:stretch/>
        </p:blipFill>
        <p:spPr>
          <a:xfrm>
            <a:off x="3972154" y="2457907"/>
            <a:ext cx="200254" cy="2286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572000" y="2048256"/>
            <a:ext cx="381305" cy="38130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705502" y="2115007"/>
            <a:ext cx="191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048402" y="2048256"/>
            <a:ext cx="1981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Budowa AST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5048402" y="2343607"/>
            <a:ext cx="19815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Konstruowanie Drzewa Składni Abstrakcyjnej i tablic symboli.</a:t>
            </a:r>
            <a:endParaRPr lang="en-US" sz="10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-57" r="-57" t="0" b="0"/>
          <a:stretch/>
        </p:blipFill>
        <p:spPr>
          <a:xfrm>
            <a:off x="7353605" y="2457907"/>
            <a:ext cx="200254" cy="2286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953451" y="2048256"/>
            <a:ext cx="381305" cy="381305"/>
          </a:xfrm>
          <a:prstGeom prst="ellipse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086039" y="2115007"/>
            <a:ext cx="2002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8429854" y="2048256"/>
            <a:ext cx="1981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4B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Interpretacja AST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8429854" y="2343607"/>
            <a:ext cx="19815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Interpretacja węzłów AST i ewaluacja wyrażeń.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1190549" y="3762756"/>
            <a:ext cx="381305" cy="38130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320394" y="3829507"/>
            <a:ext cx="2002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1666951" y="3762756"/>
            <a:ext cx="19815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2-przebiegowe zmienne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1666951" y="4276649"/>
            <a:ext cx="19815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 Rejestracja deklaracji.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2: Obliczanie i użycie.</a:t>
            </a:r>
            <a:endParaRPr lang="en-US" sz="10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-57" r="-57" t="0" b="0"/>
          <a:stretch/>
        </p:blipFill>
        <p:spPr>
          <a:xfrm>
            <a:off x="3972154" y="4172407"/>
            <a:ext cx="200254" cy="22860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4572000" y="3762756"/>
            <a:ext cx="381305" cy="381305"/>
          </a:xfrm>
          <a:prstGeom prst="ellipse">
            <a:avLst/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4705502" y="3829507"/>
            <a:ext cx="191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5048402" y="3762756"/>
            <a:ext cx="1981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9A8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Generacja HTML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5048402" y="4058107"/>
            <a:ext cx="19815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Łączenie danych z plikami szablonów, generacja końcowego .html.</a:t>
            </a:r>
            <a:endParaRPr lang="en-US" sz="10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-57" r="-57" t="0" b="0"/>
          <a:stretch/>
        </p:blipFill>
        <p:spPr>
          <a:xfrm>
            <a:off x="7353605" y="4172407"/>
            <a:ext cx="200254" cy="228600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7953451" y="3762756"/>
            <a:ext cx="381305" cy="38130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8085125" y="3829507"/>
            <a:ext cx="2002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8429854" y="3762756"/>
            <a:ext cx="19815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Zgłaszanie Błędów</a:t>
            </a:r>
            <a:endParaRPr lang="en-US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8429854" y="4058107"/>
            <a:ext cx="198150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Precyzyjne śledzenie lokalizacji i czytelne komunikaty o błędach.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761695" y="6001207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761695" y="6152998"/>
            <a:ext cx="1724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MoonChunk Tech Demo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11259922" y="6152998"/>
            <a:ext cx="247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761695" y="1524305"/>
            <a:ext cx="6495898" cy="420989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8" r="-8" t="0" b="0"/>
          <a:stretch/>
        </p:blipFill>
        <p:spPr>
          <a:xfrm>
            <a:off x="7619695" y="1524305"/>
            <a:ext cx="3829507" cy="420989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-400" r="-400" t="0" b="0"/>
          <a:stretch/>
        </p:blipFill>
        <p:spPr>
          <a:xfrm>
            <a:off x="0" y="1123798"/>
            <a:ext cx="2381098" cy="2834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143000" y="4619549"/>
            <a:ext cx="5734202" cy="828446"/>
          </a:xfrm>
          <a:prstGeom prst="roundRect">
            <a:avLst>
              <a:gd name="adj" fmla="val 2029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61695" y="333756"/>
            <a:ext cx="1187257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Wsparcie Języka MoonChunk — Rozszerzenie VS Code</a:t>
            </a:r>
            <a:endParaRPr lang="en-US" sz="3100" dirty="0"/>
          </a:p>
        </p:txBody>
      </p:sp>
      <p:sp>
        <p:nvSpPr>
          <p:cNvPr id="11" name="Shape 6"/>
          <p:cNvSpPr/>
          <p:nvPr/>
        </p:nvSpPr>
        <p:spPr>
          <a:xfrm>
            <a:off x="1143000" y="1904695"/>
            <a:ext cx="609905" cy="609905"/>
          </a:xfrm>
          <a:prstGeom prst="roundRect">
            <a:avLst>
              <a:gd name="adj" fmla="val 56222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-90" r="-90" t="0" b="0"/>
          <a:stretch/>
        </p:blipFill>
        <p:spPr>
          <a:xfrm>
            <a:off x="1257300" y="2057400"/>
            <a:ext cx="381305" cy="30449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904695" y="1923898"/>
            <a:ext cx="48774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MoonChunk Language Support</a:t>
            </a:r>
            <a:endParaRPr lang="en-US" sz="2100" dirty="0"/>
          </a:p>
        </p:txBody>
      </p:sp>
      <p:sp>
        <p:nvSpPr>
          <p:cNvPr id="14" name="Text 8"/>
          <p:cNvSpPr txBox="1"/>
          <p:nvPr/>
        </p:nvSpPr>
        <p:spPr>
          <a:xfrm>
            <a:off x="1904695" y="2305202"/>
            <a:ext cx="4877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 dhunanyan • Visual Studio Marketplace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1143000" y="2714854"/>
            <a:ext cx="58293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Funkcje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333195" y="3057754"/>
            <a:ext cx="56007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Podświetlanie składni dla słów kluczowych, typów, ciągów znaków i komentarzy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1333195" y="3600907"/>
            <a:ext cx="56391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Automatyczne przypisanie plików </a:t>
            </a:r>
            <a:pPr algn="l"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.mncnk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333195" y="3900830"/>
            <a:ext cx="62106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Podstawowe fragmenty kodu (snippets) dla szybszego programowania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1333195" y="4815230"/>
            <a:ext cx="5448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Szybka instalacja (CLI):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1333195" y="5033772"/>
            <a:ext cx="5448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--install-extension dhunanyan.moonchunk-highlight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>
            <a:alphaModFix amt="80000"/>
          </a:blip>
          <a:srcRect l="0" r="0" t="0" b="0"/>
          <a:stretch/>
        </p:blipFill>
        <p:spPr>
          <a:xfrm>
            <a:off x="9144000" y="2667305"/>
            <a:ext cx="761695" cy="76169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962595" y="4043477"/>
            <a:ext cx="31245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Usprawnij swoją pracę z MoonChunk dzięki natywnej integracji z edytorem.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761695" y="6001207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761695" y="6152998"/>
            <a:ext cx="1724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MoonChunk Tech Demo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1288268" y="6152998"/>
            <a:ext cx="219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1695" y="1524305"/>
            <a:ext cx="5162702" cy="875995"/>
          </a:xfrm>
          <a:prstGeom prst="roundRect">
            <a:avLst>
              <a:gd name="adj" fmla="val 18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1695" y="2572207"/>
            <a:ext cx="5162702" cy="875995"/>
          </a:xfrm>
          <a:prstGeom prst="roundRect">
            <a:avLst>
              <a:gd name="adj" fmla="val 18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1695" y="3619195"/>
            <a:ext cx="5162702" cy="875995"/>
          </a:xfrm>
          <a:prstGeom prst="roundRect">
            <a:avLst>
              <a:gd name="adj" fmla="val 18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1695" y="4667098"/>
            <a:ext cx="5162702" cy="875995"/>
          </a:xfrm>
          <a:prstGeom prst="roundRect">
            <a:avLst>
              <a:gd name="adj" fmla="val 18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86500" y="1524305"/>
            <a:ext cx="5162702" cy="875995"/>
          </a:xfrm>
          <a:prstGeom prst="roundRect">
            <a:avLst>
              <a:gd name="adj" fmla="val 18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86500" y="2572207"/>
            <a:ext cx="5162702" cy="875995"/>
          </a:xfrm>
          <a:prstGeom prst="roundRect">
            <a:avLst>
              <a:gd name="adj" fmla="val 18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86500" y="3619195"/>
            <a:ext cx="5162702" cy="875995"/>
          </a:xfrm>
          <a:prstGeom prst="roundRect">
            <a:avLst>
              <a:gd name="adj" fmla="val 1815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86500" y="4667098"/>
            <a:ext cx="5162702" cy="875995"/>
          </a:xfrm>
          <a:prstGeom prst="roundRect">
            <a:avLst>
              <a:gd name="adj" fmla="val 18154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475569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-400" r="-400" t="0" b="0"/>
          <a:stretch/>
        </p:blipFill>
        <p:spPr>
          <a:xfrm>
            <a:off x="0" y="1123798"/>
            <a:ext cx="2381098" cy="2834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61695" y="333756"/>
            <a:ext cx="10858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Proponowany przepływ Live Demo</a:t>
            </a:r>
            <a:endParaRPr lang="en-US" sz="3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2805" y="1714500"/>
            <a:ext cx="476402" cy="4764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38428" y="1805026"/>
            <a:ext cx="181051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619402" y="1719072"/>
            <a:ext cx="4210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Konfiguracja bazowa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619402" y="2005279"/>
            <a:ext cx="4210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Uruchom Scenariusz 01 (baseline)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2805" y="2762402"/>
            <a:ext cx="476402" cy="4764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22883" y="2852928"/>
            <a:ext cx="2194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619402" y="2766974"/>
            <a:ext cx="4210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Strony modułowe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619402" y="3053182"/>
            <a:ext cx="4210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Pokaż import </a:t>
            </a:r>
            <a:pPr algn="l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</a:t>
            </a:r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(02)</a:t>
            </a:r>
            <a:endParaRPr lang="en-US" sz="10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52805" y="3810305"/>
            <a:ext cx="476402" cy="4764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21054" y="3900830"/>
            <a:ext cx="2194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1619402" y="3814877"/>
            <a:ext cx="4210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Pętle dynamiczne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1619402" y="4100170"/>
            <a:ext cx="4210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Pokaż generowanie wielu stron z </a:t>
            </a:r>
            <a:pPr algn="l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(03)</a:t>
            </a:r>
            <a:endParaRPr lang="en-US" sz="1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52805" y="4858207"/>
            <a:ext cx="476402" cy="4764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17397" y="4947818"/>
            <a:ext cx="22860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1619402" y="4862779"/>
            <a:ext cx="4210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Warunkowe renderowanie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1619402" y="5148072"/>
            <a:ext cx="4210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Pokaż warunek </a:t>
            </a:r>
            <a:pPr algn="l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(04)</a:t>
            </a:r>
            <a:endParaRPr lang="en-US" sz="10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76695" y="1714500"/>
            <a:ext cx="476402" cy="47640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646774" y="1805026"/>
            <a:ext cx="2194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7144207" y="1719072"/>
            <a:ext cx="4210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Importy zagnieżdżone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7144207" y="2005279"/>
            <a:ext cx="4210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Pokaż łańcuch importów (06)</a:t>
            </a:r>
            <a:endParaRPr lang="en-US" sz="10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476695" y="2762402"/>
            <a:ext cx="476402" cy="4764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644030" y="2852928"/>
            <a:ext cx="21945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29"/>
          <p:cNvSpPr txBox="1"/>
          <p:nvPr/>
        </p:nvSpPr>
        <p:spPr>
          <a:xfrm>
            <a:off x="7144207" y="2766974"/>
            <a:ext cx="4210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Typy danych i obliczenia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7144207" y="3053182"/>
            <a:ext cx="4210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Pokaż typy i obliczenia (07)</a:t>
            </a:r>
            <a:endParaRPr lang="en-US" sz="10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476695" y="3810305"/>
            <a:ext cx="476402" cy="47640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651346" y="3900830"/>
            <a:ext cx="210312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800" dirty="0"/>
          </a:p>
        </p:txBody>
      </p:sp>
      <p:sp>
        <p:nvSpPr>
          <p:cNvPr id="42" name="Text 32"/>
          <p:cNvSpPr txBox="1"/>
          <p:nvPr/>
        </p:nvSpPr>
        <p:spPr>
          <a:xfrm>
            <a:off x="7144207" y="3814877"/>
            <a:ext cx="4210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 globalny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7144207" y="4100170"/>
            <a:ext cx="4210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Pokaż zmienne globalne w </a:t>
            </a:r>
            <a:pPr algn="l"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(08)</a:t>
            </a:r>
            <a:endParaRPr lang="en-US" sz="100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562649" y="4943246"/>
            <a:ext cx="304495" cy="30449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7144207" y="4905756"/>
            <a:ext cx="41724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Przejście do terminala i edytora w celu podglądu na żywo...</a:t>
            </a:r>
            <a:endParaRPr lang="en-US" sz="1200" dirty="0"/>
          </a:p>
        </p:txBody>
      </p:sp>
      <p:sp>
        <p:nvSpPr>
          <p:cNvPr id="46" name="Shape 35"/>
          <p:cNvSpPr/>
          <p:nvPr/>
        </p:nvSpPr>
        <p:spPr>
          <a:xfrm>
            <a:off x="761695" y="6001207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47" name="Text 36"/>
          <p:cNvSpPr txBox="1"/>
          <p:nvPr/>
        </p:nvSpPr>
        <p:spPr>
          <a:xfrm>
            <a:off x="761695" y="6152998"/>
            <a:ext cx="1724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MoonChunk Tech Demo</a:t>
            </a:r>
            <a:endParaRPr lang="en-US" sz="1000" dirty="0"/>
          </a:p>
        </p:txBody>
      </p:sp>
      <p:sp>
        <p:nvSpPr>
          <p:cNvPr id="48" name="Text 37"/>
          <p:cNvSpPr txBox="1"/>
          <p:nvPr/>
        </p:nvSpPr>
        <p:spPr>
          <a:xfrm>
            <a:off x="11319358" y="6152998"/>
            <a:ext cx="1911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4762195" y="1714500"/>
            <a:ext cx="6877202" cy="3829507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0" y="1123798"/>
            <a:ext cx="2381098" cy="28346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-10" r="-10" t="0" b="0"/>
          <a:stretch/>
        </p:blipFill>
        <p:spPr>
          <a:xfrm>
            <a:off x="4762195" y="1714500"/>
            <a:ext cx="6858000" cy="39044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61695" y="333756"/>
            <a:ext cx="10858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Jak uruchomić demo</a:t>
            </a:r>
            <a:endParaRPr lang="en-US" sz="3100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1714500"/>
            <a:ext cx="39246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3C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Kroki wykonania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2210105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Wykonaj poniższe polecenia w terminalu, aby zbudować kompilator i uruchomić scenariusze demonstracyjne.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952805" y="3086100"/>
            <a:ext cx="3734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Przejdź do głównego katalogu projektu.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952805" y="3429000"/>
            <a:ext cx="3734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Uruchom skrypt budujący kompilator DSL.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952805" y="3771900"/>
            <a:ext cx="36960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Użyj skryptu startowego podając ścieżkę do pliku </a:t>
            </a:r>
            <a:pPr algn="l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.mncnk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7" b="-27"/>
          <a:stretch/>
        </p:blipFill>
        <p:spPr>
          <a:xfrm>
            <a:off x="761695" y="4466844"/>
            <a:ext cx="3810305" cy="67848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33856" y="4619549"/>
            <a:ext cx="336224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Wskazówka: Podmień ścieżkę, aby uruchomić inny scenariusz z folderu </a:t>
            </a:r>
            <a:pPr algn="l" indent="0" marL="0">
              <a:buNone/>
            </a:pPr>
            <a:r>
              <a:rPr lang="en-US" sz="900" i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examples/scenarios/</a:t>
            </a:r>
            <a:pPr algn="l" indent="0" marL="0">
              <a:buNone/>
            </a:pPr>
            <a:r>
              <a:rPr lang="en-US" sz="1000" i="1" dirty="0">
                <a:solidFill>
                  <a:srgbClr val="93C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-2512" r="-2512" t="0" b="0"/>
          <a:stretch/>
        </p:blipFill>
        <p:spPr>
          <a:xfrm>
            <a:off x="952805" y="4646066"/>
            <a:ext cx="105156" cy="133502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905756" y="1848002"/>
            <a:ext cx="114300" cy="1143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2"/>
          <p:cNvSpPr/>
          <p:nvPr/>
        </p:nvSpPr>
        <p:spPr>
          <a:xfrm>
            <a:off x="5095951" y="1848002"/>
            <a:ext cx="114300" cy="1143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5286146" y="1848002"/>
            <a:ext cx="114300" cy="1143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7110374" y="1837944"/>
            <a:ext cx="21698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bash — dhunanyan@macbook — ~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4953305" y="2247595"/>
            <a:ext cx="1627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5032858" y="2247595"/>
            <a:ext cx="1627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5113325" y="2247595"/>
            <a:ext cx="4038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/Users/dhunanyan/studies/kompilatory/project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9034272" y="2247595"/>
            <a:ext cx="1205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~/.../project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0074859" y="2247595"/>
            <a:ext cx="1627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4953305" y="2247595"/>
            <a:ext cx="64867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 scripts/build.sh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5433365" y="2461565"/>
            <a:ext cx="44394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MoonChunk engine... [SUCCESS] Build complete.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9754819" y="2461565"/>
            <a:ext cx="1205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~/.../project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10795406" y="2461565"/>
            <a:ext cx="1627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4953305" y="2461565"/>
            <a:ext cx="64867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./scripts/start.sh ./examples/scenarios/08-global-env-basic/site.mncnk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953305" y="2674620"/>
            <a:ext cx="6486754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Initializing MoonChunk... Parsing DSL configuration... Generating static pages -&gt; ./dist [SUCCESS] Finished generating 1 page(s).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8230514" y="3152851"/>
            <a:ext cx="75895" cy="152705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761695" y="6248095"/>
            <a:ext cx="1724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MoonChunk Tech Demo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11292840" y="6248095"/>
            <a:ext cx="219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5214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143000"/>
            <a:ext cx="1219169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761695" y="1524305"/>
            <a:ext cx="6495898" cy="401970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19695" y="1524305"/>
            <a:ext cx="3829507" cy="4019702"/>
          </a:xfrm>
          <a:prstGeom prst="roundRect">
            <a:avLst>
              <a:gd name="adj" fmla="val 1426"/>
            </a:avLst>
          </a:prstGeom>
          <a:solidFill>
            <a:srgbClr val="2563E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400" r="-400" t="0" b="0"/>
          <a:stretch/>
        </p:blipFill>
        <p:spPr>
          <a:xfrm>
            <a:off x="0" y="1123798"/>
            <a:ext cx="2381098" cy="2834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1695" y="333756"/>
            <a:ext cx="10858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spc="-37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Podsumowanie</a:t>
            </a:r>
            <a:endParaRPr lang="en-US" sz="3100" dirty="0"/>
          </a:p>
        </p:txBody>
      </p:sp>
      <p:sp>
        <p:nvSpPr>
          <p:cNvPr id="10" name="Text 6"/>
          <p:cNvSpPr txBox="1"/>
          <p:nvPr/>
        </p:nvSpPr>
        <p:spPr>
          <a:xfrm>
            <a:off x="1095451" y="1904695"/>
            <a:ext cx="59253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93C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Kluczowe wnioski</a:t>
            </a:r>
            <a:endParaRPr lang="en-US" sz="2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5451" y="2514600"/>
            <a:ext cx="190195" cy="19019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38351" y="2476195"/>
            <a:ext cx="55440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Praktyczny DSL + Interpreter:</a:t>
            </a:r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MoonChunk to w pełni funkcjonalny silnik do generowania stron.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95451" y="3266237"/>
            <a:ext cx="190195" cy="19019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38351" y="3227832"/>
            <a:ext cx="55440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Bogaty zestaw funkcji:</a:t>
            </a:r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Obsługuje modułowość, warunki, pętle, dane JSON i podstawowe typy.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95451" y="4017874"/>
            <a:ext cx="190195" cy="190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438351" y="3979469"/>
            <a:ext cx="55440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Gotowe wyjście:</a:t>
            </a:r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Generuje czyste, standardowe pliki HTML bezpośrednio do folderu wyjściowego.</a:t>
            </a:r>
            <a:endParaRPr lang="en-US" sz="14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95451" y="4769510"/>
            <a:ext cx="190195" cy="19019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438351" y="4731106"/>
            <a:ext cx="554400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Solidne podstawy:</a:t>
            </a:r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Zbudowany w oparciu o ANTLR, z elastyczną architekturą pod dalszy rozwój (CLI, VM, itp.).</a:t>
            </a:r>
            <a:endParaRPr lang="en-US" sz="14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219895" y="2076602"/>
            <a:ext cx="609905" cy="609905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848295" y="2952598"/>
            <a:ext cx="335310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Wypróbuj!</a:t>
            </a:r>
            <a:endParaRPr lang="en-US" sz="1900" dirty="0"/>
          </a:p>
        </p:txBody>
      </p:sp>
      <p:sp>
        <p:nvSpPr>
          <p:cNvPr id="21" name="Text 12"/>
          <p:cNvSpPr txBox="1"/>
          <p:nvPr/>
        </p:nvSpPr>
        <p:spPr>
          <a:xfrm>
            <a:off x="7867498" y="3429000"/>
            <a:ext cx="33147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Uruchom scenariusze, przejrzyj kod i podziel się opinią.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7905902" y="4083710"/>
            <a:ext cx="3238805" cy="457200"/>
          </a:xfrm>
          <a:prstGeom prst="roundRect">
            <a:avLst>
              <a:gd name="adj" fmla="val 6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8482889" y="4227271"/>
            <a:ext cx="263347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Zainstaluj rozszerzenie VS Code</a:t>
            </a:r>
            <a:endParaRPr lang="en-US" sz="9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263433" y="4251046"/>
            <a:ext cx="123444" cy="123444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7905902" y="4655210"/>
            <a:ext cx="3238805" cy="457200"/>
          </a:xfrm>
          <a:prstGeom prst="roundRect">
            <a:avLst>
              <a:gd name="adj" fmla="val 6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Text 16"/>
          <p:cNvSpPr txBox="1"/>
          <p:nvPr/>
        </p:nvSpPr>
        <p:spPr>
          <a:xfrm>
            <a:off x="8980322" y="4798771"/>
            <a:ext cx="21360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Podziel się opinią</a:t>
            </a:r>
            <a:endParaRPr lang="en-US" sz="9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524" b="-524"/>
          <a:stretch/>
        </p:blipFill>
        <p:spPr>
          <a:xfrm>
            <a:off x="8732520" y="4822546"/>
            <a:ext cx="152705" cy="123444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761695" y="6001207"/>
            <a:ext cx="10668305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9" name="Text 18"/>
          <p:cNvSpPr txBox="1"/>
          <p:nvPr/>
        </p:nvSpPr>
        <p:spPr>
          <a:xfrm>
            <a:off x="761695" y="6152998"/>
            <a:ext cx="1724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MoonChunk Tech Demo</a:t>
            </a:r>
            <a:endParaRPr lang="en-US" sz="1000" dirty="0"/>
          </a:p>
        </p:txBody>
      </p:sp>
      <p:sp>
        <p:nvSpPr>
          <p:cNvPr id="30" name="Text 19"/>
          <p:cNvSpPr txBox="1"/>
          <p:nvPr/>
        </p:nvSpPr>
        <p:spPr>
          <a:xfrm>
            <a:off x="11291011" y="6152998"/>
            <a:ext cx="219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2026-04-12T13:12:26Z</dcterms:created>
  <dcterms:modified xsi:type="dcterms:W3CDTF">2026-04-12T13:12:26Z</dcterms:modified>
</cp:coreProperties>
</file>