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F"/>
    <a:srgbClr val="5B7FBD"/>
    <a:srgbClr val="7CB7E6"/>
    <a:srgbClr val="94C2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08"/>
  </p:normalViewPr>
  <p:slideViewPr>
    <p:cSldViewPr snapToGrid="0" snapToObjects="1">
      <p:cViewPr>
        <p:scale>
          <a:sx n="98" d="100"/>
          <a:sy n="98" d="100"/>
        </p:scale>
        <p:origin x="2232" y="6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94C2E8"/>
              </a:solidFill>
            </a:endParaRPr>
          </a:p>
        </p:txBody>
      </p:sp>
      <p:pic>
        <p:nvPicPr>
          <p:cNvPr id="7" name="Picture 6" descr="A cartoon of a moon wearing glasses&#10;&#10;AI-generated content may be incorrect.">
            <a:extLst>
              <a:ext uri="{FF2B5EF4-FFF2-40B4-BE49-F238E27FC236}">
                <a16:creationId xmlns:a16="http://schemas.microsoft.com/office/drawing/2014/main" id="{184CD9FF-98A3-1B47-89D4-33B1ECCCD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439" y="1501629"/>
            <a:ext cx="3449646" cy="38547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22039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/>
              <a:t>1. Problem </a:t>
            </a:r>
            <a:r>
              <a:rPr dirty="0" err="1"/>
              <a:t>i</a:t>
            </a:r>
            <a:r>
              <a:rPr dirty="0"/>
              <a:t> cel </a:t>
            </a:r>
            <a:r>
              <a:rPr dirty="0" err="1"/>
              <a:t>projektu</a:t>
            </a:r>
            <a:endParaRPr dirty="0"/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/>
              <a:t>2. </a:t>
            </a:r>
            <a:r>
              <a:rPr dirty="0" err="1"/>
              <a:t>Czym</a:t>
            </a:r>
            <a:r>
              <a:rPr dirty="0"/>
              <a:t> jest </a:t>
            </a:r>
            <a:r>
              <a:rPr dirty="0" err="1"/>
              <a:t>MoonChunk</a:t>
            </a:r>
            <a:endParaRPr dirty="0"/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/>
              <a:t>3. </a:t>
            </a:r>
            <a:r>
              <a:rPr dirty="0" err="1"/>
              <a:t>Architektura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stos</a:t>
            </a:r>
            <a:r>
              <a:rPr dirty="0"/>
              <a:t> </a:t>
            </a:r>
            <a:r>
              <a:rPr dirty="0" err="1"/>
              <a:t>technologiczny</a:t>
            </a:r>
            <a:endParaRPr dirty="0"/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/>
              <a:t>4. </a:t>
            </a:r>
            <a:r>
              <a:rPr dirty="0" err="1"/>
              <a:t>Składnia</a:t>
            </a:r>
            <a:r>
              <a:rPr dirty="0"/>
              <a:t> DSL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przykłady</a:t>
            </a:r>
            <a:endParaRPr dirty="0"/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/>
              <a:t>5. </a:t>
            </a:r>
            <a:r>
              <a:rPr dirty="0" err="1"/>
              <a:t>Wyniki</a:t>
            </a:r>
            <a:r>
              <a:rPr dirty="0"/>
              <a:t>, </a:t>
            </a:r>
            <a:r>
              <a:rPr dirty="0" err="1"/>
              <a:t>jakość</a:t>
            </a:r>
            <a:r>
              <a:rPr dirty="0"/>
              <a:t>, </a:t>
            </a:r>
            <a:r>
              <a:rPr dirty="0" err="1"/>
              <a:t>dalszy</a:t>
            </a:r>
            <a:r>
              <a:rPr dirty="0"/>
              <a:t> </a:t>
            </a:r>
            <a:r>
              <a:rPr dirty="0" err="1"/>
              <a:t>rozwój</a:t>
            </a:r>
            <a:endParaRPr dirty="0"/>
          </a:p>
        </p:txBody>
      </p:sp>
      <p:pic>
        <p:nvPicPr>
          <p:cNvPr id="5" name="Picture 4" descr="logo.png">
            <a:extLst>
              <a:ext uri="{FF2B5EF4-FFF2-40B4-BE49-F238E27FC236}">
                <a16:creationId xmlns:a16="http://schemas.microsoft.com/office/drawing/2014/main" id="{1256392C-C008-3C02-50ED-66DE60107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66896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22039"/>
                </a:solidFill>
                <a:latin typeface="Calibri"/>
              </a:defRPr>
            </a:pPr>
            <a:r>
              <a:t>Problem i cel projektu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Tworzenie wielu podstron HTML ręcznie jest czasochłonne i podatne na błędy.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Celem było zaprojektowanie czytelnego DSL do opisu struktury serwisu.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MoonChunk automatyzuje generowanie plików HTML z danych i szablonów.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Projekt został zaimplementowany jako interpreter (ANTLR + TypeScript).</a:t>
            </a:r>
          </a:p>
        </p:txBody>
      </p:sp>
      <p:pic>
        <p:nvPicPr>
          <p:cNvPr id="5" name="Picture 4" descr="logo.png">
            <a:extLst>
              <a:ext uri="{FF2B5EF4-FFF2-40B4-BE49-F238E27FC236}">
                <a16:creationId xmlns:a16="http://schemas.microsoft.com/office/drawing/2014/main" id="{D04962DC-BD73-F273-977F-1BC555859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66896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22039"/>
                </a:solidFill>
                <a:latin typeface="Calibri"/>
              </a:defRPr>
            </a:pPr>
            <a:r>
              <a:t>Czym jest MoonChunk?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DSL zapisujemy w plikach .mncnk.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Język wspiera: site, output, import, page, let, if, for, content, data(...).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Wynikiem działania jest zestaw gotowych plików HTML w katalogu dist.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Projekt jest przygotowany jako pakiet npm (API + CLI skrypt uruchomieniowy).</a:t>
            </a:r>
          </a:p>
        </p:txBody>
      </p:sp>
      <p:pic>
        <p:nvPicPr>
          <p:cNvPr id="5" name="Picture 4" descr="logo.png">
            <a:extLst>
              <a:ext uri="{FF2B5EF4-FFF2-40B4-BE49-F238E27FC236}">
                <a16:creationId xmlns:a16="http://schemas.microsoft.com/office/drawing/2014/main" id="{C7A0920F-2D2B-54CE-E504-C72043532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66896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22039"/>
                </a:solidFill>
                <a:latin typeface="Calibri"/>
              </a:defRPr>
            </a:pPr>
            <a:r>
              <a:t>Architektura rozwiązania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1) Lexer + parser generowane z gramatyki MoonChunk.g4 (ANTLR4TS).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2) Visitor buduje AST z drzewa parsowania.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3) Interpreter wykonuje AST, zarządza scope i importami.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4) Silnik template renderuje {{ expr }}, {% if %}, {% for %}.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5) Generator zapisuje HTML do katalogu wyjściowego.</a:t>
            </a:r>
          </a:p>
        </p:txBody>
      </p:sp>
      <p:pic>
        <p:nvPicPr>
          <p:cNvPr id="5" name="Picture 4" descr="logo.png">
            <a:extLst>
              <a:ext uri="{FF2B5EF4-FFF2-40B4-BE49-F238E27FC236}">
                <a16:creationId xmlns:a16="http://schemas.microsoft.com/office/drawing/2014/main" id="{D7742139-97EB-DC27-4886-BBB3246A8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66896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22039"/>
                </a:solidFill>
                <a:latin typeface="Calibri"/>
              </a:defRPr>
            </a:pPr>
            <a:r>
              <a:t>Przykład DSL: strona podstawowa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8138160" cy="4389120"/>
          </a:xfrm>
          <a:prstGeom prst="rect">
            <a:avLst/>
          </a:prstGeom>
          <a:solidFill>
            <a:srgbClr val="171C28"/>
          </a:solidFill>
          <a:ln>
            <a:solidFill>
              <a:srgbClr val="17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site "Scenario01" {</a:t>
            </a:r>
          </a:p>
          <a:p>
            <a:r>
              <a:t>  output "./dist"</a:t>
            </a:r>
          </a:p>
          <a:p>
            <a:endParaRPr/>
          </a:p>
          <a:p>
            <a:r>
              <a:t>  page "/" using "layout.tpl" {</a:t>
            </a:r>
          </a:p>
          <a:p>
            <a:r>
              <a:t>    let title = "Site Basic"</a:t>
            </a:r>
          </a:p>
          <a:p>
            <a:r>
              <a:t>    let msg = "Hello from site body"</a:t>
            </a:r>
          </a:p>
          <a:p>
            <a:r>
              <a:t>    content {</a:t>
            </a:r>
          </a:p>
          <a:p>
            <a:r>
              <a:t>      &lt;h1&gt;{{ title }}&lt;/h1&gt;</a:t>
            </a:r>
          </a:p>
          <a:p>
            <a:r>
              <a:t>      &lt;p&gt;{{ msg }}&lt;/p&gt;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80760"/>
            <a:ext cx="7955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66BB"/>
                </a:solidFill>
                <a:latin typeface="Calibri"/>
              </a:defRPr>
            </a:pPr>
            <a:r>
              <a:rPr dirty="0" err="1"/>
              <a:t>Kod</a:t>
            </a:r>
            <a:r>
              <a:rPr dirty="0"/>
              <a:t> </a:t>
            </a:r>
            <a:r>
              <a:rPr dirty="0" err="1"/>
              <a:t>oparty</a:t>
            </a:r>
            <a:r>
              <a:rPr dirty="0"/>
              <a:t> o </a:t>
            </a:r>
            <a:r>
              <a:rPr dirty="0" err="1"/>
              <a:t>scenariusz</a:t>
            </a:r>
            <a:r>
              <a:rPr dirty="0"/>
              <a:t> 01 z </a:t>
            </a:r>
            <a:r>
              <a:rPr dirty="0" err="1"/>
              <a:t>projektu</a:t>
            </a:r>
            <a:r>
              <a:rPr dirty="0"/>
              <a:t>.</a:t>
            </a:r>
          </a:p>
        </p:txBody>
      </p:sp>
      <p:pic>
        <p:nvPicPr>
          <p:cNvPr id="6" name="Picture 5" descr="logo.png">
            <a:extLst>
              <a:ext uri="{FF2B5EF4-FFF2-40B4-BE49-F238E27FC236}">
                <a16:creationId xmlns:a16="http://schemas.microsoft.com/office/drawing/2014/main" id="{6C6370E6-E472-E5E1-C5D5-CA7A6D335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66896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22039"/>
                </a:solidFill>
                <a:latin typeface="Calibri"/>
              </a:defRPr>
            </a:pPr>
            <a:r>
              <a:t>Przykład DSL: import + pętla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8138160" cy="4389120"/>
          </a:xfrm>
          <a:prstGeom prst="rect">
            <a:avLst/>
          </a:prstGeom>
          <a:solidFill>
            <a:srgbClr val="171C28"/>
          </a:solidFill>
          <a:ln>
            <a:solidFill>
              <a:srgbClr val="17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site "Scenario03" {</a:t>
            </a:r>
          </a:p>
          <a:p>
            <a:r>
              <a:t>  output "./dist"</a:t>
            </a:r>
          </a:p>
          <a:p>
            <a:r>
              <a:t>  import "./loop_fragment.mncnk"</a:t>
            </a:r>
          </a:p>
          <a:p>
            <a:r>
              <a:t>}</a:t>
            </a:r>
          </a:p>
          <a:p>
            <a:endParaRPr/>
          </a:p>
          <a:p>
            <a:r>
              <a:t>for item in data("items.json") {</a:t>
            </a:r>
          </a:p>
          <a:p>
            <a:r>
              <a:t>  page "/items/{{item.slug }}.html" using "layout.tpl" {</a:t>
            </a:r>
          </a:p>
          <a:p>
            <a:r>
              <a:t>    let title = item.title</a:t>
            </a:r>
          </a:p>
          <a:p>
            <a:r>
              <a:t>    content {</a:t>
            </a:r>
          </a:p>
          <a:p>
            <a:r>
              <a:t>      &lt;h1&gt;{{ item.title }}&lt;/h1&gt;</a:t>
            </a:r>
          </a:p>
          <a:p>
            <a:r>
              <a:t>      &lt;p&gt;{{ item.body }}&lt;/p&gt;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80760"/>
            <a:ext cx="79552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66BB"/>
                </a:solidFill>
                <a:latin typeface="Calibri"/>
              </a:defRPr>
            </a:pPr>
            <a:r>
              <a:rPr dirty="0" err="1"/>
              <a:t>Automatyczne</a:t>
            </a:r>
            <a:r>
              <a:rPr dirty="0"/>
              <a:t> </a:t>
            </a:r>
            <a:r>
              <a:rPr dirty="0" err="1"/>
              <a:t>generowanie</a:t>
            </a:r>
            <a:r>
              <a:rPr dirty="0"/>
              <a:t> </a:t>
            </a:r>
            <a:r>
              <a:rPr dirty="0" err="1"/>
              <a:t>wielu</a:t>
            </a:r>
            <a:r>
              <a:rPr dirty="0"/>
              <a:t> </a:t>
            </a:r>
            <a:r>
              <a:rPr dirty="0" err="1"/>
              <a:t>podstron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podstawie</a:t>
            </a:r>
            <a:r>
              <a:rPr dirty="0"/>
              <a:t> </a:t>
            </a:r>
            <a:r>
              <a:rPr dirty="0" err="1"/>
              <a:t>danych</a:t>
            </a:r>
            <a:r>
              <a:rPr dirty="0"/>
              <a:t> JSON.</a:t>
            </a:r>
          </a:p>
        </p:txBody>
      </p:sp>
      <p:pic>
        <p:nvPicPr>
          <p:cNvPr id="6" name="Picture 5" descr="logo.png">
            <a:extLst>
              <a:ext uri="{FF2B5EF4-FFF2-40B4-BE49-F238E27FC236}">
                <a16:creationId xmlns:a16="http://schemas.microsoft.com/office/drawing/2014/main" id="{AA993FBE-AE6D-CC8F-9BE2-BBB1A90C0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66896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22039"/>
                </a:solidFill>
                <a:latin typeface="Calibri"/>
              </a:defRPr>
            </a:pPr>
            <a:r>
              <a:t>Najważniejsze cechy techniczne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Obsługa</a:t>
            </a:r>
            <a:r>
              <a:rPr dirty="0"/>
              <a:t> </a:t>
            </a:r>
            <a:r>
              <a:rPr dirty="0" err="1"/>
              <a:t>importów</a:t>
            </a:r>
            <a:r>
              <a:rPr dirty="0"/>
              <a:t> </a:t>
            </a:r>
            <a:r>
              <a:rPr dirty="0" err="1"/>
              <a:t>zagnieżdżonych</a:t>
            </a:r>
            <a:r>
              <a:rPr dirty="0"/>
              <a:t> </a:t>
            </a:r>
            <a:r>
              <a:rPr dirty="0" err="1"/>
              <a:t>oraz</a:t>
            </a:r>
            <a:r>
              <a:rPr dirty="0"/>
              <a:t> </a:t>
            </a:r>
            <a:r>
              <a:rPr dirty="0" err="1"/>
              <a:t>detekcja</a:t>
            </a:r>
            <a:r>
              <a:rPr dirty="0"/>
              <a:t> </a:t>
            </a:r>
            <a:r>
              <a:rPr dirty="0" err="1"/>
              <a:t>importów</a:t>
            </a:r>
            <a:r>
              <a:rPr dirty="0"/>
              <a:t> </a:t>
            </a:r>
            <a:r>
              <a:rPr dirty="0" err="1"/>
              <a:t>cyklicznych</a:t>
            </a:r>
            <a:r>
              <a:rPr dirty="0"/>
              <a:t>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/>
              <a:t>Scope </a:t>
            </a:r>
            <a:r>
              <a:rPr dirty="0" err="1"/>
              <a:t>zmiennych</a:t>
            </a:r>
            <a:r>
              <a:rPr dirty="0"/>
              <a:t> z </a:t>
            </a:r>
            <a:r>
              <a:rPr dirty="0" err="1"/>
              <a:t>dziedziczeniem</a:t>
            </a:r>
            <a:r>
              <a:rPr dirty="0"/>
              <a:t> (</a:t>
            </a:r>
            <a:r>
              <a:rPr dirty="0" err="1"/>
              <a:t>globalny</a:t>
            </a:r>
            <a:r>
              <a:rPr dirty="0"/>
              <a:t>, </a:t>
            </a:r>
            <a:r>
              <a:rPr dirty="0" err="1"/>
              <a:t>blokowy</a:t>
            </a:r>
            <a:r>
              <a:rPr dirty="0"/>
              <a:t>, </a:t>
            </a:r>
            <a:r>
              <a:rPr dirty="0" err="1"/>
              <a:t>dla</a:t>
            </a:r>
            <a:r>
              <a:rPr dirty="0"/>
              <a:t> </a:t>
            </a:r>
            <a:r>
              <a:rPr dirty="0" err="1"/>
              <a:t>pętli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strony</a:t>
            </a:r>
            <a:r>
              <a:rPr dirty="0"/>
              <a:t>).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Ewaluacja</a:t>
            </a:r>
            <a:r>
              <a:rPr dirty="0"/>
              <a:t> </a:t>
            </a:r>
            <a:r>
              <a:rPr dirty="0" err="1"/>
              <a:t>wyrażeń</a:t>
            </a:r>
            <a:r>
              <a:rPr dirty="0"/>
              <a:t>: </a:t>
            </a:r>
            <a:r>
              <a:rPr dirty="0" err="1"/>
              <a:t>liczby</a:t>
            </a:r>
            <a:r>
              <a:rPr dirty="0"/>
              <a:t>, </a:t>
            </a:r>
            <a:r>
              <a:rPr dirty="0" err="1"/>
              <a:t>stringi</a:t>
            </a:r>
            <a:r>
              <a:rPr dirty="0"/>
              <a:t>, </a:t>
            </a:r>
            <a:r>
              <a:rPr dirty="0" err="1"/>
              <a:t>boole</a:t>
            </a:r>
            <a:r>
              <a:rPr dirty="0"/>
              <a:t>, </a:t>
            </a:r>
            <a:r>
              <a:rPr dirty="0" err="1"/>
              <a:t>porównania</a:t>
            </a:r>
            <a:r>
              <a:rPr dirty="0"/>
              <a:t>, </a:t>
            </a:r>
            <a:r>
              <a:rPr dirty="0" err="1"/>
              <a:t>konkatenacja</a:t>
            </a:r>
            <a:r>
              <a:rPr dirty="0"/>
              <a:t>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Mapowanie</a:t>
            </a:r>
            <a:r>
              <a:rPr dirty="0"/>
              <a:t> route -&gt; </a:t>
            </a:r>
            <a:r>
              <a:rPr dirty="0" err="1"/>
              <a:t>plik</a:t>
            </a:r>
            <a:r>
              <a:rPr dirty="0"/>
              <a:t> </a:t>
            </a:r>
            <a:r>
              <a:rPr dirty="0" err="1"/>
              <a:t>wynikowy</a:t>
            </a:r>
            <a:r>
              <a:rPr dirty="0"/>
              <a:t> (np. / -&gt; </a:t>
            </a:r>
            <a:r>
              <a:rPr dirty="0" err="1"/>
              <a:t>index.html</a:t>
            </a:r>
            <a:r>
              <a:rPr dirty="0"/>
              <a:t>).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rPr dirty="0" err="1"/>
              <a:t>Kontrolowana</a:t>
            </a:r>
            <a:r>
              <a:rPr dirty="0"/>
              <a:t> </a:t>
            </a:r>
            <a:r>
              <a:rPr dirty="0" err="1"/>
              <a:t>obsługa</a:t>
            </a:r>
            <a:r>
              <a:rPr dirty="0"/>
              <a:t> </a:t>
            </a:r>
            <a:r>
              <a:rPr dirty="0" err="1"/>
              <a:t>błędów</a:t>
            </a:r>
            <a:r>
              <a:rPr dirty="0"/>
              <a:t> z </a:t>
            </a:r>
            <a:r>
              <a:rPr dirty="0" err="1"/>
              <a:t>informacją</a:t>
            </a:r>
            <a:r>
              <a:rPr dirty="0"/>
              <a:t> o </a:t>
            </a:r>
            <a:r>
              <a:rPr dirty="0" err="1"/>
              <a:t>linii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kolumnie</a:t>
            </a:r>
            <a:r>
              <a:rPr dirty="0"/>
              <a:t>.</a:t>
            </a:r>
          </a:p>
        </p:txBody>
      </p:sp>
      <p:pic>
        <p:nvPicPr>
          <p:cNvPr id="5" name="Picture 4" descr="logo.png">
            <a:extLst>
              <a:ext uri="{FF2B5EF4-FFF2-40B4-BE49-F238E27FC236}">
                <a16:creationId xmlns:a16="http://schemas.microsoft.com/office/drawing/2014/main" id="{A566CB76-292E-056B-AB1F-6EBD21BA7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66896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22039"/>
                </a:solidFill>
                <a:latin typeface="Calibri"/>
              </a:defRPr>
            </a:pPr>
            <a:r>
              <a:t>Walidacja i testy scenariuszowe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Scenariusze 01-06 pokrywają kolejne funkcje języka i importów.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Weryfikowane są: generacja HTML, poprawność ścieżek i składni DSL.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Skrypt check uruchamia build i sanity test API executeMoonChunk(...).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Projekt działa na Node.js &gt;= 18 i jest gotowy do dalszego rozszerzania.</a:t>
            </a:r>
          </a:p>
        </p:txBody>
      </p:sp>
      <p:pic>
        <p:nvPicPr>
          <p:cNvPr id="5" name="Picture 4" descr="logo.png">
            <a:extLst>
              <a:ext uri="{FF2B5EF4-FFF2-40B4-BE49-F238E27FC236}">
                <a16:creationId xmlns:a16="http://schemas.microsoft.com/office/drawing/2014/main" id="{6A9EC6B9-89EA-AFD5-F5C0-FC75457AF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66896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22039"/>
                </a:solidFill>
                <a:latin typeface="Calibri"/>
              </a:defRPr>
            </a:pPr>
            <a:r>
              <a:t>Korzyści biznesowo-projektowe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Szybsze tworzenie prostych serwisów statycznych i landing page’y.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Jednolity opis treści i logiki zamiast ręcznej duplikacji HTML.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Dobre narzędzie dydaktyczne do nauki: gramatyka, AST, interpreter, runtime.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Fundament pod rozwój do bardziej zaawansowanego generatora stron.</a:t>
            </a:r>
          </a:p>
        </p:txBody>
      </p:sp>
      <p:pic>
        <p:nvPicPr>
          <p:cNvPr id="5" name="Picture 4" descr="logo.png">
            <a:extLst>
              <a:ext uri="{FF2B5EF4-FFF2-40B4-BE49-F238E27FC236}">
                <a16:creationId xmlns:a16="http://schemas.microsoft.com/office/drawing/2014/main" id="{479366F6-0B33-B021-0FB6-3FD75996F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66896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DF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22039"/>
                </a:solidFill>
                <a:latin typeface="Calibri"/>
              </a:defRPr>
            </a:pPr>
            <a:r>
              <a:t>Roadmapa rozwoju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Rozszerzenie operatorów logicznych (pełne and/or/not) i porównań.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Funkcje/procedury w DSL oraz parametryzacja komponentów.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Lepsze komunikaty błędów i diagnostyka semantyczna.</a:t>
            </a:r>
          </a:p>
          <a:p>
            <a:pPr>
              <a:defRPr sz="2200">
                <a:solidFill>
                  <a:srgbClr val="212121"/>
                </a:solidFill>
                <a:latin typeface="Calibri"/>
              </a:defRPr>
            </a:pPr>
            <a:r>
              <a:t>Opcjonalny tryb watch i incremental build dla wygodniejszego developmentu.</a:t>
            </a:r>
          </a:p>
        </p:txBody>
      </p:sp>
      <p:pic>
        <p:nvPicPr>
          <p:cNvPr id="5" name="Picture 4" descr="logo.png">
            <a:extLst>
              <a:ext uri="{FF2B5EF4-FFF2-40B4-BE49-F238E27FC236}">
                <a16:creationId xmlns:a16="http://schemas.microsoft.com/office/drawing/2014/main" id="{E3FB78BD-6849-989A-2480-5A3D8AF53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5668962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FFFFFF"/>
                </a:solidFill>
                <a:latin typeface="Calibri"/>
              </a:defRPr>
            </a:pPr>
            <a:r>
              <a:t>Podsumowanie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786384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alibri"/>
              </a:defRPr>
            </a:pPr>
            <a:r>
              <a:rPr dirty="0" err="1"/>
              <a:t>MoonChunk</a:t>
            </a:r>
            <a:r>
              <a:rPr dirty="0"/>
              <a:t> to </a:t>
            </a:r>
            <a:r>
              <a:rPr dirty="0" err="1"/>
              <a:t>działający</a:t>
            </a:r>
            <a:r>
              <a:rPr dirty="0"/>
              <a:t> interpreter DSL, </a:t>
            </a:r>
            <a:r>
              <a:rPr dirty="0" err="1"/>
              <a:t>który</a:t>
            </a:r>
            <a:r>
              <a:rPr dirty="0"/>
              <a:t> </a:t>
            </a:r>
            <a:r>
              <a:rPr dirty="0" err="1"/>
              <a:t>zamienia</a:t>
            </a:r>
            <a:r>
              <a:rPr dirty="0"/>
              <a:t> </a:t>
            </a:r>
            <a:r>
              <a:rPr dirty="0" err="1"/>
              <a:t>zwięzły</a:t>
            </a:r>
            <a:r>
              <a:rPr dirty="0"/>
              <a:t> </a:t>
            </a:r>
            <a:r>
              <a:rPr dirty="0" err="1"/>
              <a:t>opis</a:t>
            </a:r>
            <a:r>
              <a:rPr dirty="0"/>
              <a:t> </a:t>
            </a:r>
            <a:r>
              <a:rPr dirty="0" err="1"/>
              <a:t>serwisu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gotowe</a:t>
            </a:r>
            <a:r>
              <a:rPr dirty="0"/>
              <a:t> </a:t>
            </a:r>
            <a:r>
              <a:rPr dirty="0" err="1"/>
              <a:t>pliki</a:t>
            </a:r>
            <a:r>
              <a:rPr dirty="0"/>
              <a:t> HTML.</a:t>
            </a:r>
          </a:p>
          <a:p>
            <a:pPr>
              <a:defRPr sz="2200">
                <a:solidFill>
                  <a:srgbClr val="FFFFFF"/>
                </a:solidFill>
                <a:latin typeface="Calibri"/>
              </a:defRPr>
            </a:pPr>
            <a:r>
              <a:rPr dirty="0"/>
              <a:t>Projekt </a:t>
            </a:r>
            <a:r>
              <a:rPr dirty="0" err="1"/>
              <a:t>łączy</a:t>
            </a:r>
            <a:r>
              <a:rPr dirty="0"/>
              <a:t> </a:t>
            </a:r>
            <a:r>
              <a:rPr dirty="0" err="1"/>
              <a:t>poprawną</a:t>
            </a:r>
            <a:r>
              <a:rPr dirty="0"/>
              <a:t> </a:t>
            </a:r>
            <a:r>
              <a:rPr dirty="0" err="1"/>
              <a:t>formalną</a:t>
            </a:r>
            <a:r>
              <a:rPr dirty="0"/>
              <a:t> </a:t>
            </a:r>
            <a:r>
              <a:rPr dirty="0" err="1"/>
              <a:t>gramatykę</a:t>
            </a:r>
            <a:r>
              <a:rPr dirty="0"/>
              <a:t> z </a:t>
            </a:r>
            <a:r>
              <a:rPr dirty="0" err="1"/>
              <a:t>praktycznym</a:t>
            </a:r>
            <a:r>
              <a:rPr dirty="0"/>
              <a:t> </a:t>
            </a:r>
            <a:r>
              <a:rPr dirty="0" err="1"/>
              <a:t>zastosowaniem</a:t>
            </a:r>
            <a:r>
              <a:rPr dirty="0"/>
              <a:t> w static-site generation.</a:t>
            </a:r>
          </a:p>
          <a:p>
            <a:pPr>
              <a:defRPr sz="3000" b="1">
                <a:solidFill>
                  <a:srgbClr val="8BCDFF"/>
                </a:solidFill>
                <a:latin typeface="Calibri"/>
              </a:defRPr>
            </a:pPr>
            <a:r>
              <a:rPr dirty="0" err="1"/>
              <a:t>Dziękuję</a:t>
            </a:r>
            <a:r>
              <a:rPr dirty="0"/>
              <a:t> za </a:t>
            </a:r>
            <a:r>
              <a:rPr dirty="0" err="1"/>
              <a:t>uwagę</a:t>
            </a:r>
            <a:endParaRPr dirty="0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88938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</TotalTime>
  <Words>597</Words>
  <Application>Microsoft Macintosh PowerPoint</Application>
  <PresentationFormat>On-screen Show (4:3)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Agenda</vt:lpstr>
      <vt:lpstr>Problem i cel projektu</vt:lpstr>
      <vt:lpstr>Czym jest MoonChunk?</vt:lpstr>
      <vt:lpstr>Architektura rozwiązania</vt:lpstr>
      <vt:lpstr>Przykład DSL: strona podstawowa</vt:lpstr>
      <vt:lpstr>Przykład DSL: import + pętla for</vt:lpstr>
      <vt:lpstr>Najważniejsze cechy techniczne</vt:lpstr>
      <vt:lpstr>Walidacja i testy scenariuszowe</vt:lpstr>
      <vt:lpstr>Korzyści biznesowo-projektowe</vt:lpstr>
      <vt:lpstr>Roadmapa rozwoju</vt:lpstr>
      <vt:lpstr>Podsumowanie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Davit Hunanyan</cp:lastModifiedBy>
  <cp:revision>8</cp:revision>
  <dcterms:created xsi:type="dcterms:W3CDTF">2013-01-27T09:14:16Z</dcterms:created>
  <dcterms:modified xsi:type="dcterms:W3CDTF">2026-03-18T16:17:18Z</dcterms:modified>
  <cp:category/>
</cp:coreProperties>
</file>